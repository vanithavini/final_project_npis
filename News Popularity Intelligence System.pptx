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75" r:id="rId11"/>
    <p:sldId id="263" r:id="rId12"/>
    <p:sldId id="264" r:id="rId13"/>
    <p:sldId id="265" r:id="rId14"/>
    <p:sldId id="276" r:id="rId15"/>
    <p:sldId id="266" r:id="rId16"/>
    <p:sldId id="277" r:id="rId17"/>
    <p:sldId id="267" r:id="rId18"/>
    <p:sldId id="278" r:id="rId19"/>
    <p:sldId id="268" r:id="rId20"/>
    <p:sldId id="279" r:id="rId21"/>
    <p:sldId id="280" r:id="rId22"/>
    <p:sldId id="281" r:id="rId23"/>
    <p:sldId id="269" r:id="rId24"/>
    <p:sldId id="270" r:id="rId25"/>
    <p:sldId id="271" r:id="rId26"/>
    <p:sldId id="272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131E-508E-4270-9221-C4D1C0B69F6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2A673-C427-48AC-9987-26C285E8E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18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2A673-C427-48AC-9987-26C285E8E0D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116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00F2-0152-17C3-B65E-654F040B4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74E66-70A3-9B51-52A8-6353425BD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0B75-3B8D-2483-47C6-8C9BA808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03653-187B-30B7-615F-6192CA4E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3F46E-08CA-5E79-C77A-EA5E50B3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79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36CB-CBFC-6D52-595C-9C8DB094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A0029-D49C-C5CC-C8C5-C684E6C12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538F4-2AA4-C209-4707-91AA2790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B8291-1DC7-6776-9443-1B30789B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3A750-3F77-DB8D-FA78-C74432FC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99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6479-C9EA-FDD7-5989-A1EC53E0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F09F-6FF6-AD9E-C045-B65AEA243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6AF93-9C2B-562F-CDBF-2F931611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AB53-3E56-E6C4-4D11-ABB6B707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17C3B-7687-0D3F-5B46-958DC55E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0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C06F-09DC-9AB6-949D-C98B96D6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DCA2-DB73-1E2F-DC2C-C8B3B4A47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9F3F7-BBB1-D6C2-0C4E-DF3D69C5F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8654C-ECE9-874D-62FB-E8099163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C63B0-1B76-8364-9F0E-63673C79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49455-F52E-3368-B056-A4A6C754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88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17A3-DBEB-218F-861C-75D48846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5FE31-5D2B-8076-F658-DADBF0FFC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F0839-8A2B-CA7B-6F11-CEE847297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B9566-ABF1-67EC-5268-37382E37F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5689C-8A45-7C0D-6163-09B6D6ED0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86842-7F63-7637-7C4D-973486ED4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BCCE6-8D15-CBFA-A826-011A1C621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AFB71-C1EE-8B9B-CDC3-25E714FD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0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89D4-A053-0334-9CDD-5F0F3095C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71FE4-8A48-9BE6-B14F-0A73C157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132D5-004F-D06A-4EB5-323DB2CA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BCAE8-AF58-D9BC-09D3-CD4CE1A3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16B52-7934-8703-2494-2A37AE4A1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15E70-88D9-5DC4-D2F9-62ABF719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E68BE-1FA4-FC84-9669-74AC00CD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84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97F8-B03B-4BD1-09A1-69241F87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F4F9E-695D-9385-5D4A-06D670BEE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032A8-C5A9-7438-DD40-1732DD4D5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D25-40DC-940B-A4F0-16754621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42AF7-D32A-AD42-5C9F-D9C1B864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DD56B-76AF-853B-77D1-617F6F25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80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E89A-ABE1-CFF0-647D-9E4BA3FF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24863-58D9-FEED-31CF-1EA26A5E9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91D3B-5ECD-38F3-0F1B-951AD41E3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6FA1E-03D9-6B7B-7B72-54B12DC4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0B42E-CC6F-DA73-DCAC-52ACC8AB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48A01-AE54-E850-F2BC-E88DE05A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0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EA3D-009B-076E-E59C-D04A1CBC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54E8E-FBD3-44ED-3A96-75F9E5475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B6030-DEA2-0DC1-EB08-FD1F2F30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7D8B6-349B-5170-E241-0ACE2A31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FFB-7BE3-1BE5-837F-86BBAD45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60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AFD15-C52E-CF71-7A26-83D7E1978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6E3E1-3B65-8F04-B7A2-9A2CCE888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E609E-C7E9-E2F1-D2BA-243F6635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D698-257A-FE40-E8D9-367EB045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56963-2284-FF4E-F147-563EFC00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08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8B1A6-BDCE-0D84-4CE8-059BB576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0DC47-41C2-643A-A2EF-0A488C5CD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FB1F5-986D-2E12-8D2A-D0161D49E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A6198-202E-431F-800C-48BFD504898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9496A-3805-AE41-B1DA-DAEAA720E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C1A7A-4723-2989-6130-5B25059A7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D811F-9581-42DB-897F-F698DEF048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57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020-761D-507A-3FF0-FEDD236EC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News Popularity Intelligence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74216-A1EE-CE8E-4C7F-17B0C9880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77421"/>
          </a:xfrm>
        </p:spPr>
        <p:txBody>
          <a:bodyPr>
            <a:normAutofit/>
          </a:bodyPr>
          <a:lstStyle/>
          <a:p>
            <a:r>
              <a:rPr lang="en-IN" sz="3900" dirty="0"/>
              <a:t>Using Transformer-Based Deep Learning</a:t>
            </a:r>
          </a:p>
          <a:p>
            <a:endParaRPr lang="en-IN" dirty="0"/>
          </a:p>
          <a:p>
            <a:r>
              <a:rPr lang="en-IN" dirty="0"/>
              <a:t>By</a:t>
            </a:r>
          </a:p>
          <a:p>
            <a:r>
              <a:rPr lang="en-IN" dirty="0"/>
              <a:t>S. Vanitha</a:t>
            </a:r>
          </a:p>
          <a:p>
            <a:r>
              <a:rPr lang="en-IN" dirty="0"/>
              <a:t>February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5755A-947D-C506-CE63-40F5F9597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0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7905-BB11-B438-D468-FE47B2D65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5"/>
            <a:ext cx="10515600" cy="158253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3DE3A-C1FB-B0F8-F079-44BF75E03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0"/>
            <a:ext cx="10515600" cy="52110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Digital news platforms must decide which articles to highlight, promote, or deprioritize at the time of publishing. However, real-world popularity indicators such as clicks, shares, and impressions are not immediately available.</a:t>
            </a:r>
          </a:p>
          <a:p>
            <a:r>
              <a:rPr lang="en-US" dirty="0"/>
              <a:t>The objective of this project is to design and implement a Transformer-based News Popularity Intelligence System that:</a:t>
            </a:r>
          </a:p>
          <a:p>
            <a:pPr marL="0" indent="0">
              <a:buNone/>
            </a:pPr>
            <a:r>
              <a:rPr lang="en-US" dirty="0"/>
              <a:t>    - Learns deep semantic representations of news articles using   transfer learning.</a:t>
            </a:r>
          </a:p>
          <a:p>
            <a:pPr marL="0" indent="0">
              <a:buNone/>
            </a:pPr>
            <a:r>
              <a:rPr lang="en-US" dirty="0"/>
              <a:t>    - Infers relative popularity potential directly from text.</a:t>
            </a:r>
          </a:p>
          <a:p>
            <a:pPr marL="0" indent="0">
              <a:buNone/>
            </a:pPr>
            <a:r>
              <a:rPr lang="en-US" dirty="0"/>
              <a:t>    - Ranks and scores articles based on predicted attention likelihood.</a:t>
            </a:r>
          </a:p>
          <a:p>
            <a:pPr marL="0" indent="0">
              <a:buNone/>
            </a:pPr>
            <a:r>
              <a:rPr lang="en-US" dirty="0"/>
              <a:t>    - Provides explainable insights to support editorial decision-making.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77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C539-5ED7-6BE8-D9C1-AEE58F5A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43A0E-FF32-FF8E-D9FB-4B05CEF7D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Treat popularity as a latent variable.</a:t>
            </a:r>
          </a:p>
          <a:p>
            <a:pPr marL="457200" lvl="1" indent="0">
              <a:buNone/>
            </a:pPr>
            <a:r>
              <a:rPr lang="en-US" sz="2800" dirty="0"/>
              <a:t>- Use linguistic proxy signals.</a:t>
            </a:r>
          </a:p>
          <a:p>
            <a:pPr marL="457200" lvl="1" indent="0">
              <a:buNone/>
            </a:pPr>
            <a:r>
              <a:rPr lang="en-US" sz="2800" dirty="0"/>
              <a:t>- Leverage Transformer semantic representation.</a:t>
            </a:r>
          </a:p>
          <a:p>
            <a:pPr marL="457200" lvl="1" indent="0">
              <a:buNone/>
            </a:pPr>
            <a:r>
              <a:rPr lang="en-US" sz="2800" dirty="0"/>
              <a:t>- Apply weighted explainable scoring.</a:t>
            </a:r>
          </a:p>
        </p:txBody>
      </p:sp>
    </p:spTree>
    <p:extLst>
      <p:ext uri="{BB962C8B-B14F-4D97-AF65-F5344CB8AC3E}">
        <p14:creationId xmlns:p14="http://schemas.microsoft.com/office/powerpoint/2010/main" val="219656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0CFF-B059-028E-3321-C9212FB6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0AD2-FFAB-4AAB-88C2-EC2462331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044233"/>
          </a:xfrm>
        </p:spPr>
        <p:txBody>
          <a:bodyPr/>
          <a:lstStyle/>
          <a:p>
            <a:r>
              <a:rPr lang="en-IN" dirty="0"/>
              <a:t>Layered Modular Architecture</a:t>
            </a:r>
          </a:p>
          <a:p>
            <a:pPr marL="457200" lvl="1" indent="0">
              <a:buNone/>
            </a:pPr>
            <a:r>
              <a:rPr lang="en-IN" dirty="0"/>
              <a:t>Data → NLP → Signals → Scoring → Ranking → Explainability → Dashboard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sz="2800" dirty="0"/>
              <a:t>- Scalable and replaceable components.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653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F814-0078-1BE3-44A7-A726324E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76E02-B65D-69EA-2BC3-D6C179F14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Minimal text cleaning (retain semantic structure)</a:t>
            </a:r>
          </a:p>
          <a:p>
            <a:pPr marL="457200" lvl="1" indent="0">
              <a:buNone/>
            </a:pPr>
            <a:r>
              <a:rPr lang="en-US" sz="2800" dirty="0"/>
              <a:t>- Remove URLs &amp; HTML.</a:t>
            </a:r>
          </a:p>
          <a:p>
            <a:pPr marL="457200" lvl="1" indent="0">
              <a:buNone/>
            </a:pPr>
            <a:r>
              <a:rPr lang="en-US" sz="2800" dirty="0"/>
              <a:t>- Combine title + description using [SEP].</a:t>
            </a:r>
          </a:p>
          <a:p>
            <a:pPr marL="457200" lvl="1" indent="0">
              <a:buNone/>
            </a:pPr>
            <a:r>
              <a:rPr lang="en-US" sz="2800" dirty="0"/>
              <a:t>- Deduplication to prevent bias.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96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07CA3-4474-9735-10DE-BB318FC07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9" y="943896"/>
            <a:ext cx="3873039" cy="44298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77F808-ED4F-D57A-2B20-582F4A7B3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374" y="78659"/>
            <a:ext cx="4084652" cy="4477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28EE16-37D0-5716-D67E-16498B1FA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455" y="3814916"/>
            <a:ext cx="4084652" cy="271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9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EEB993-2092-8507-E356-B83F1F365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73" y="103647"/>
            <a:ext cx="2806945" cy="2985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9C4DA1-BB1B-11C7-9981-1B5F401D9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925" y="103647"/>
            <a:ext cx="3943900" cy="2795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8AEDFE-0524-5EF4-E4C5-281D338F4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032" y="182689"/>
            <a:ext cx="3542613" cy="2709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E024DA-42E5-1356-03D7-7209EF079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77" y="3374828"/>
            <a:ext cx="3725936" cy="30860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5F68BE-212D-1094-988F-B281345F1F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317" y="3203335"/>
            <a:ext cx="3725936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82B9A9-27C3-DB76-FA73-CBEE0C5E32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358" y="3386943"/>
            <a:ext cx="4146827" cy="289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9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0EFF-0F08-B2CB-4AB2-DE6B75FB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037"/>
            <a:ext cx="10515600" cy="1325563"/>
          </a:xfrm>
        </p:spPr>
        <p:txBody>
          <a:bodyPr/>
          <a:lstStyle/>
          <a:p>
            <a:r>
              <a:rPr lang="en-IN" dirty="0"/>
              <a:t>Transformer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BA12-1BBE-7FD8-24F7-093B53C74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863"/>
            <a:ext cx="10515600" cy="4351338"/>
          </a:xfrm>
        </p:spPr>
        <p:txBody>
          <a:bodyPr/>
          <a:lstStyle/>
          <a:p>
            <a:r>
              <a:rPr lang="en-IN" dirty="0" err="1"/>
              <a:t>DistilBERT</a:t>
            </a:r>
            <a:r>
              <a:rPr lang="en-IN" dirty="0"/>
              <a:t> for contextual embeddings</a:t>
            </a:r>
          </a:p>
          <a:p>
            <a:pPr marL="457200" lvl="1" indent="0">
              <a:buNone/>
            </a:pPr>
            <a:r>
              <a:rPr lang="en-IN" sz="2800" dirty="0"/>
              <a:t>- Tokenization using pretrained tokenizer.</a:t>
            </a:r>
          </a:p>
          <a:p>
            <a:pPr marL="457200" lvl="1" indent="0">
              <a:buNone/>
            </a:pPr>
            <a:r>
              <a:rPr lang="en-IN" sz="2800" dirty="0"/>
              <a:t>- Mean Pooling for stable sentence embeddings.</a:t>
            </a:r>
          </a:p>
          <a:p>
            <a:pPr marL="457200" lvl="1" indent="0">
              <a:buNone/>
            </a:pPr>
            <a:r>
              <a:rPr lang="en-IN" sz="2800" dirty="0"/>
              <a:t>- Chunked batch processing for memory efficiency.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17878-C5EF-B5B3-B1B8-1F0473BD3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62" y="2990708"/>
            <a:ext cx="4273671" cy="3662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03C2AF-068C-03B0-CBF5-F36B22EA6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561" y="3053726"/>
            <a:ext cx="4390376" cy="3512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EC116E-2A25-0E3D-C1FA-41CA50533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134" y="2990708"/>
            <a:ext cx="3541147" cy="175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41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BB66-A79A-E394-D0E3-30BD7925D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Why </a:t>
            </a:r>
            <a:r>
              <a:rPr lang="en-IN" dirty="0" err="1"/>
              <a:t>DistilBERT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180AC-CF63-CCC0-24EF-3DC9AD653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Lightweight and faster than BERT</a:t>
            </a:r>
          </a:p>
          <a:p>
            <a:pPr marL="457200" lvl="1" indent="0">
              <a:buNone/>
            </a:pPr>
            <a:r>
              <a:rPr lang="en-US" sz="2800" dirty="0"/>
              <a:t>- Lower memory consumption.</a:t>
            </a:r>
          </a:p>
          <a:p>
            <a:pPr marL="457200" lvl="1" indent="0">
              <a:buNone/>
            </a:pPr>
            <a:r>
              <a:rPr lang="en-US" sz="2800" dirty="0"/>
              <a:t>- Retains ~97% performance of BERT.</a:t>
            </a:r>
          </a:p>
          <a:p>
            <a:pPr marL="457200" lvl="1" indent="0">
              <a:buNone/>
            </a:pPr>
            <a:r>
              <a:rPr lang="en-US" sz="2800" dirty="0"/>
              <a:t>- Suitable for production deployment.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918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FFE41-07C4-81E9-E8E1-57E3DA5A3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20" y="216309"/>
            <a:ext cx="4628385" cy="2664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6EA9F6-FB29-C2EB-078F-3E4745DF8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81" y="2993340"/>
            <a:ext cx="3561993" cy="3275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219C98-B53D-B644-8FF5-DC8D81022C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045" y="2143433"/>
            <a:ext cx="3710574" cy="4237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8A9CD-4E7D-CCC0-B299-867C9BB6DE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120" y="2340077"/>
            <a:ext cx="3486894" cy="363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1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16E2-E0A4-97A5-0DC3-A0B03FE1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Proxy Signal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781F-CAC3-7DBF-D38A-A7353C508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Emotional Intensity</a:t>
            </a:r>
          </a:p>
          <a:p>
            <a:pPr marL="457200" lvl="1" indent="0">
              <a:buNone/>
            </a:pPr>
            <a:r>
              <a:rPr lang="en-US" sz="2800" dirty="0"/>
              <a:t>- Urgency Detection</a:t>
            </a:r>
          </a:p>
          <a:p>
            <a:pPr marL="457200" lvl="1" indent="0">
              <a:buNone/>
            </a:pPr>
            <a:r>
              <a:rPr lang="en-US" sz="2800" dirty="0"/>
              <a:t>- Lexical Diversity</a:t>
            </a:r>
          </a:p>
          <a:p>
            <a:pPr marL="457200" lvl="1" indent="0">
              <a:buNone/>
            </a:pPr>
            <a:r>
              <a:rPr lang="en-US" sz="2800" dirty="0"/>
              <a:t>- Readability Score</a:t>
            </a:r>
          </a:p>
          <a:p>
            <a:pPr marL="457200" lvl="1" indent="0">
              <a:buNone/>
            </a:pPr>
            <a:r>
              <a:rPr lang="en-US" sz="2800" dirty="0"/>
              <a:t>- Subjectivity Score</a:t>
            </a:r>
          </a:p>
          <a:p>
            <a:pPr marL="457200" lvl="1" indent="0">
              <a:buNone/>
            </a:pPr>
            <a:r>
              <a:rPr lang="en-US" sz="2800" dirty="0"/>
              <a:t>- Length Optimization Signal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2D3E3-8550-D9AB-8421-0DCFF9F09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359" y="216309"/>
            <a:ext cx="4949215" cy="4036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3A389A-D21B-0951-EC24-0F393CBE5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967" y="4338119"/>
            <a:ext cx="3574508" cy="230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89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F00E-D5A9-5B9A-0514-92C88519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Weighted Scoring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E9DA9-2E02-5F1A-DFA7-1679DE48A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Emotion (0.25)</a:t>
            </a:r>
          </a:p>
          <a:p>
            <a:pPr marL="457200" lvl="1" indent="0">
              <a:buNone/>
            </a:pPr>
            <a:r>
              <a:rPr lang="en-US" sz="2800" dirty="0"/>
              <a:t>- Urgency (0.20)</a:t>
            </a:r>
          </a:p>
          <a:p>
            <a:pPr marL="457200" lvl="1" indent="0">
              <a:buNone/>
            </a:pPr>
            <a:r>
              <a:rPr lang="en-US" sz="2800" dirty="0"/>
              <a:t>- Lexical Diversity (0.15)</a:t>
            </a:r>
          </a:p>
          <a:p>
            <a:pPr marL="457200" lvl="1" indent="0">
              <a:buNone/>
            </a:pPr>
            <a:r>
              <a:rPr lang="en-US" sz="2800" dirty="0"/>
              <a:t>- Readability (0.15)</a:t>
            </a:r>
          </a:p>
          <a:p>
            <a:pPr marL="457200" lvl="1" indent="0">
              <a:buNone/>
            </a:pPr>
            <a:r>
              <a:rPr lang="en-US" sz="2800" dirty="0"/>
              <a:t>- Subjectivity (0.15)</a:t>
            </a:r>
          </a:p>
          <a:p>
            <a:pPr marL="457200" lvl="1" indent="0">
              <a:buNone/>
            </a:pPr>
            <a:r>
              <a:rPr lang="en-US" sz="2800" dirty="0"/>
              <a:t>- Length (0.10)</a:t>
            </a:r>
          </a:p>
          <a:p>
            <a:pPr marL="457200" lvl="1" indent="0">
              <a:buNone/>
            </a:pPr>
            <a:r>
              <a:rPr lang="en-US" sz="2800" dirty="0"/>
              <a:t>- Normalized Final Score (0–100%)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4E047-733D-0F9F-1B51-746866F3E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977" y="1527585"/>
            <a:ext cx="4875115" cy="496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7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C63F-8A51-FAA5-855E-DDD1FB5D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Weighted Instead of 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DBF96-27FA-F433-9EB7-9F67A8A0A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labeled popularity data available</a:t>
            </a:r>
          </a:p>
          <a:p>
            <a:pPr marL="457200" lvl="1" indent="0">
              <a:buNone/>
            </a:pPr>
            <a:r>
              <a:rPr lang="en-US" sz="2800" dirty="0"/>
              <a:t>- Interpretability required for editorial trust.</a:t>
            </a:r>
          </a:p>
          <a:p>
            <a:pPr marL="457200" lvl="1" indent="0">
              <a:buNone/>
            </a:pPr>
            <a:r>
              <a:rPr lang="en-US" sz="2800" dirty="0"/>
              <a:t>- Business-adjustable weight tuning.</a:t>
            </a:r>
          </a:p>
          <a:p>
            <a:pPr marL="457200" lvl="1" indent="0">
              <a:buNone/>
            </a:pPr>
            <a:r>
              <a:rPr lang="en-US" sz="2800" dirty="0"/>
              <a:t>- Transparent and explainable modeling.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224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0C36FE-D0CC-4A46-7782-5EAB78E5D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18" y="216311"/>
            <a:ext cx="4312171" cy="396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226066-A737-5DB7-8D87-2CC6A0533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631" y="3429000"/>
            <a:ext cx="5156040" cy="3315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43362C-A3E8-7575-FA21-A5A3B2356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824" y="162234"/>
            <a:ext cx="4475958" cy="36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23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8D78-A6BE-53E1-276A-E46EB6B1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Priority Classification &amp;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F4F97-A8AB-29E2-75F4-51C9565AE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/ Medium / Non-Priority categorization</a:t>
            </a:r>
          </a:p>
          <a:p>
            <a:pPr marL="457200" lvl="1" indent="0">
              <a:buNone/>
            </a:pPr>
            <a:r>
              <a:rPr lang="en-US" sz="2800" dirty="0"/>
              <a:t>- Global ranking by popularity score.</a:t>
            </a:r>
          </a:p>
          <a:p>
            <a:pPr marL="457200" lvl="1" indent="0">
              <a:buNone/>
            </a:pPr>
            <a:r>
              <a:rPr lang="en-US" sz="2800" dirty="0"/>
              <a:t>- Priority-aware ranking for editorial workflow.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393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C0139-FAC3-D90F-960F-27D5C1FA6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13" y="983226"/>
            <a:ext cx="3934249" cy="4630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DE3D2B-0D2D-E686-5D39-09DF37F09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434" y="286513"/>
            <a:ext cx="4075402" cy="3232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EFE4F-EE68-918D-EBEB-1CFF0B905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329" y="2871020"/>
            <a:ext cx="3988558" cy="35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08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F6C7-D184-02EA-A820-17D31A34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Explainability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72A33-17CC-2DF4-E3AA-6E8ACACD5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Contribution = Signal Score × Weight × 100</a:t>
            </a:r>
          </a:p>
          <a:p>
            <a:pPr marL="457200" lvl="1" indent="0">
              <a:buNone/>
            </a:pPr>
            <a:r>
              <a:rPr lang="en-US" sz="2800" dirty="0"/>
              <a:t>- Top contributing factors extraction</a:t>
            </a:r>
          </a:p>
          <a:p>
            <a:pPr marL="457200" lvl="1" indent="0">
              <a:buNone/>
            </a:pPr>
            <a:r>
              <a:rPr lang="en-US" sz="2800" dirty="0"/>
              <a:t>- Avoids black-box AI decisions</a:t>
            </a:r>
          </a:p>
          <a:p>
            <a:pPr marL="457200" lvl="1" indent="0">
              <a:buNone/>
            </a:pPr>
            <a:r>
              <a:rPr lang="en-US" sz="2800" dirty="0"/>
              <a:t>- Improves decision transparency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270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3B2D3-512B-17F9-3338-E436F2D1D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55" y="215874"/>
            <a:ext cx="4065301" cy="3648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63F43F-862E-A244-C7F5-DE71F5CA6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71" y="2803826"/>
            <a:ext cx="4352224" cy="3826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8EEBC-C905-C0A7-A1E9-D8021A33F6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64" y="747252"/>
            <a:ext cx="4028696" cy="521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74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6488-0652-E6A2-66CC-1733FF65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Deployment (</a:t>
            </a:r>
            <a:r>
              <a:rPr lang="en-IN" dirty="0" err="1"/>
              <a:t>Streamlit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9F7FB-B065-BB0D-4387-B04893262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article scoring</a:t>
            </a:r>
          </a:p>
          <a:p>
            <a:pPr marL="457200" lvl="1" indent="0">
              <a:buNone/>
            </a:pPr>
            <a:r>
              <a:rPr lang="en-US" sz="2800" dirty="0"/>
              <a:t>- Priority label output</a:t>
            </a:r>
          </a:p>
          <a:p>
            <a:pPr marL="457200" lvl="1" indent="0">
              <a:buNone/>
            </a:pPr>
            <a:r>
              <a:rPr lang="en-US" sz="2800" dirty="0"/>
              <a:t>- Contribution visualization</a:t>
            </a:r>
          </a:p>
          <a:p>
            <a:pPr marL="457200" lvl="1" indent="0">
              <a:buNone/>
            </a:pPr>
            <a:r>
              <a:rPr lang="en-US" sz="2800" dirty="0"/>
              <a:t>- Architecture overview display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4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099AD-D67A-631F-D281-6FCAF975C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91" y="157316"/>
            <a:ext cx="3385198" cy="3165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88583F-4B51-7C90-0F9B-710B6A65F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91" y="3534698"/>
            <a:ext cx="4597805" cy="3071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D46201-C2E6-5A3D-106C-787AD03AE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638" y="157316"/>
            <a:ext cx="3632091" cy="3165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413D30-5B61-81A3-BA4C-D24DA6277C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994" y="157316"/>
            <a:ext cx="3245083" cy="34817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84F23D-ECBE-59C1-0ACF-EC87C3BB95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534" y="3741362"/>
            <a:ext cx="4436920" cy="295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41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33842-9243-9350-E499-3EDB4E47A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754870"/>
            <a:ext cx="4857135" cy="2341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431E5C-44B4-41CA-A771-4D05AAF03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3761663"/>
            <a:ext cx="4869457" cy="2216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57ACF-ABA4-69C0-D2C1-EEFE3F729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773" y="1331009"/>
            <a:ext cx="6392408" cy="307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36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81A909-0CC9-DD92-3C34-2F8918A41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0" y="157316"/>
            <a:ext cx="6363143" cy="3188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E7CAA-BA46-A438-C382-0D4DAF360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762" y="3275520"/>
            <a:ext cx="6784258" cy="316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75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464E-CBC9-F4C4-58D5-68EFA614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59FE-525A-7A64-0489-56CA509BB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Heuristic weight assignment</a:t>
            </a:r>
          </a:p>
          <a:p>
            <a:pPr marL="457200" lvl="1" indent="0">
              <a:buNone/>
            </a:pPr>
            <a:r>
              <a:rPr lang="en-IN" sz="2800" dirty="0"/>
              <a:t>- No real engagement label validation.</a:t>
            </a:r>
          </a:p>
          <a:p>
            <a:pPr marL="457200" lvl="1" indent="0">
              <a:buNone/>
            </a:pPr>
            <a:r>
              <a:rPr lang="en-IN" sz="2800" dirty="0"/>
              <a:t>- No personalization layer.</a:t>
            </a:r>
          </a:p>
          <a:p>
            <a:pPr marL="457200" lvl="1" indent="0">
              <a:buNone/>
            </a:pPr>
            <a:r>
              <a:rPr lang="en-IN" sz="2800" dirty="0"/>
              <a:t>- Cultural bias possible in sentiment detection.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527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81E6-6737-9315-9756-819086E4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8FB6E-779F-F705-1CC7-2388921AC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Reinforcement learning for weight optimization</a:t>
            </a:r>
          </a:p>
          <a:p>
            <a:pPr marL="0" indent="0">
              <a:buNone/>
            </a:pPr>
            <a:r>
              <a:rPr lang="en-IN" sz="2800" dirty="0"/>
              <a:t>     -</a:t>
            </a:r>
            <a:r>
              <a:rPr lang="en-IN" dirty="0"/>
              <a:t> Fine-tuned Transformer model for engagement prediction.</a:t>
            </a:r>
          </a:p>
          <a:p>
            <a:pPr marL="0" indent="0">
              <a:buNone/>
            </a:pPr>
            <a:r>
              <a:rPr lang="en-IN" dirty="0"/>
              <a:t>     - Reinforcement learning for weight optimization.</a:t>
            </a:r>
          </a:p>
          <a:p>
            <a:pPr marL="0" indent="0">
              <a:buNone/>
            </a:pPr>
            <a:r>
              <a:rPr lang="en-IN" dirty="0"/>
              <a:t>     - Real-time API deployment.</a:t>
            </a:r>
          </a:p>
          <a:p>
            <a:pPr marL="0" indent="0">
              <a:buNone/>
            </a:pPr>
            <a:r>
              <a:rPr lang="en-IN" dirty="0"/>
              <a:t>     - A/B testing integration.</a:t>
            </a:r>
          </a:p>
          <a:p>
            <a:pPr marL="0" indent="0">
              <a:buNone/>
            </a:pPr>
            <a:r>
              <a:rPr lang="en-IN" dirty="0"/>
              <a:t>     - User personalization layer.</a:t>
            </a:r>
          </a:p>
          <a:p>
            <a:pPr marL="0" indent="0">
              <a:buNone/>
            </a:pPr>
            <a:r>
              <a:rPr lang="en-IN" dirty="0"/>
              <a:t>     - Automated weight learning via weak supervision.</a:t>
            </a:r>
          </a:p>
          <a:p>
            <a:pPr marL="457200" lvl="1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109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3E12-9B1C-DF28-95C1-3407863C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Industry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F0E2-CE30-12A5-9503-AB158579F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Digital News Platforms</a:t>
            </a:r>
          </a:p>
          <a:p>
            <a:pPr marL="457200" lvl="1" indent="0">
              <a:buNone/>
            </a:pPr>
            <a:r>
              <a:rPr lang="en-IN" sz="2800" dirty="0"/>
              <a:t>- Content Recommendation Systems.</a:t>
            </a:r>
          </a:p>
          <a:p>
            <a:pPr marL="457200" lvl="1" indent="0">
              <a:buNone/>
            </a:pPr>
            <a:r>
              <a:rPr lang="en-IN" sz="2800" dirty="0"/>
              <a:t>- Editorial Decision Support.</a:t>
            </a:r>
          </a:p>
          <a:p>
            <a:pPr marL="457200" lvl="1" indent="0">
              <a:buNone/>
            </a:pPr>
            <a:r>
              <a:rPr lang="en-IN" sz="2800" dirty="0"/>
              <a:t>- Media Intelligence &amp; Analytics Platforms.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129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AE42-77E1-262F-EDF4-E17C9360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500AE-99B6-3D1A-E038-F9F2ECF39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Transformer-based semantic intelligence</a:t>
            </a:r>
          </a:p>
          <a:p>
            <a:pPr marL="457200" lvl="1" indent="0">
              <a:buNone/>
            </a:pPr>
            <a:r>
              <a:rPr lang="en-IN" sz="2800" dirty="0"/>
              <a:t>- Weakly supervised proxy modelling.</a:t>
            </a:r>
          </a:p>
          <a:p>
            <a:pPr marL="457200" lvl="1" indent="0">
              <a:buNone/>
            </a:pPr>
            <a:r>
              <a:rPr lang="en-IN" sz="2800" dirty="0"/>
              <a:t>- Explainable AI scoring framework.</a:t>
            </a:r>
          </a:p>
          <a:p>
            <a:pPr marL="457200" lvl="1" indent="0">
              <a:buNone/>
            </a:pPr>
            <a:r>
              <a:rPr lang="en-IN" sz="2800" dirty="0"/>
              <a:t>- Deployable modular system.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770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0D4E-C4FA-50B9-01F0-77E1A863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" y="2479061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7755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535</Words>
  <Application>Microsoft Office PowerPoint</Application>
  <PresentationFormat>Widescreen</PresentationFormat>
  <Paragraphs>97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News Popularity Intelligence System</vt:lpstr>
      <vt:lpstr>Problem Statement</vt:lpstr>
      <vt:lpstr>Core Idea</vt:lpstr>
      <vt:lpstr>System Architecture</vt:lpstr>
      <vt:lpstr>Data Preprocessing</vt:lpstr>
      <vt:lpstr>PowerPoint Presentation</vt:lpstr>
      <vt:lpstr>PowerPoint Presentation</vt:lpstr>
      <vt:lpstr>Transformer Representation</vt:lpstr>
      <vt:lpstr>Why DistilBERT?</vt:lpstr>
      <vt:lpstr>PowerPoint Presentation</vt:lpstr>
      <vt:lpstr>Proxy Signal Engineering</vt:lpstr>
      <vt:lpstr>Weighted Scoring Framework</vt:lpstr>
      <vt:lpstr>Why Weighted Instead of ML?</vt:lpstr>
      <vt:lpstr>PowerPoint Presentation</vt:lpstr>
      <vt:lpstr>Priority Classification &amp; Ranking</vt:lpstr>
      <vt:lpstr>PowerPoint Presentation</vt:lpstr>
      <vt:lpstr>Explainability Engine</vt:lpstr>
      <vt:lpstr>PowerPoint Presentation</vt:lpstr>
      <vt:lpstr>Dashboard Deployment (Streamlit)</vt:lpstr>
      <vt:lpstr>PowerPoint Presentation</vt:lpstr>
      <vt:lpstr>PowerPoint Presentation</vt:lpstr>
      <vt:lpstr>PowerPoint Presentation</vt:lpstr>
      <vt:lpstr>Limitation</vt:lpstr>
      <vt:lpstr>Future Enhancements</vt:lpstr>
      <vt:lpstr>Industry 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Vanitha S</dc:creator>
  <cp:lastModifiedBy>Vanitha S</cp:lastModifiedBy>
  <cp:revision>1</cp:revision>
  <dcterms:created xsi:type="dcterms:W3CDTF">2026-02-22T18:15:16Z</dcterms:created>
  <dcterms:modified xsi:type="dcterms:W3CDTF">2026-02-22T18:21:28Z</dcterms:modified>
</cp:coreProperties>
</file>